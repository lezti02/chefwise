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0a54d334-7d08-c070-c116-0185f5fb8102}">
          <p14:sldIdLst>
            <p14:sldId id="256"/>
            <p14:sldId id="257"/>
          </p14:sldIdLst>
        </p14:section>
        <p14:section name="Cómo funciona" id="{3242fd11-2235-0ea0-ca4a-85881d6767d3}">
          <p14:sldIdLst>
            <p14:sldId id="258"/>
            <p14:sldId id="259"/>
            <p14:sldId id="260"/>
            <p14:sldId id="261"/>
          </p14:sldIdLst>
        </p14:section>
        <p14:section name="Cierre" id="{5ac90109-700b-6090-88e9-d900f821e2c6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Hola, soy [tu nombre]. Este es ChefWise, el proyecto final del diplomado: una aplicación web que ayuda a decidir qué cocinar.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idea surge de una pregunta de todos los días: ¿qué cocino hoy? Se abre el refri, hay ingredientes sueltos y no se sabe qué hacer con ellos. O se llega cansado y no se ocurre nada. Y cuando no se tiene mucha experiencia en la cocina, todo toma más tiempo de lo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chat como ChatGPT puede ayudar, pero hay que saber qué preguntarle. Y cuando no se sabe qué cocinar, eso es justo lo difícil. En ChefWise se elige con botones, las recetas son reales y el asistente se enfoca en la receta que se está viendo, para ayudar en todo lo que se necesite.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app tiene tres partes. Un buscador, que encuentra recetas con los ingredientes disponibles en un instante. Un catálogo de casi veintinueve mil recetas reales, revisadas y limpias. Y un asistente con Gemini, que responde dudas solo sobre la receta abierta.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usa según la situación. ¿Hay sobras? Se entra a Con lo que tengo. ¿No se sabe qué se quiere? Se entra a Sorpréndeme y se elige con un toque. ¿Surge una duda mientras se cocina? Se le pregunta al asistente.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pensó para que fuera fácil desde el primer momento. No pide registro. Las alergias se marcan una sola vez. Responde rápido porque usa un modelo ligero. Y cuida la salud: nunca asegura que algo es cien por ciento seguro para alguien con alergias.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siguientes pasos, hay dos mejoras. La primera, que las recomendaciones sean más personalizadas, según los gustos de cada persona. Y la segunda, mejorar la interfaz a partir de la opinión de quienes la usen, para corregir lo que resulte confuso.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Ahora, veamos cómo funciona la app. (Cambia a la pestaña del navegador con la app abierta.)
DEMO:
1) Inicio: Así se ve la pantalla de inicio. El menú tiene solo tres opciones, para que nadie se pierda.
2) Sorpréndeme: Aquí no hace falta escribir nada. Se toca "Comida" y luego "Pasta", y aparecen unas cuantas opciones para elegir.
3) Con lo que tengo: Aquí se escriben los ingredientes disponibles, por ejemplo "huevo", y se presiona Enter. Al activar esta opción, la app da recetas con pocos ingredientes extra.
4) Receta + asistente: Al abrir una receta aparecen los ingredientes y los pasos. Si surge una duda, se abre el asistente aquí abajo y se le pregunta, por ejemplo, con qué sustituir un ingrediente. La respuesta es sobre esta receta en específico.
5) Mi cocina &gt; Preferencias: Por último, en Mi cocina, en Preferencias, se marca una alergia con un solo toque, y a partir de ahí esas recetas ya no aparecen.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eso es ChefWise. Para probarla, está disponible en chef-wise-three punto vercel punto app. Muchas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lar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o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cado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DIPLOMADO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cocino hoy?</a:t>
            </a:r>
            <a:endParaRPr lang="en-US" sz="6600" dirty="0"/>
          </a:p>
        </p:txBody>
      </p:sp>
      <p:sp>
        <p:nvSpPr>
          <p:cNvPr id="4" name="Subtítulo"/>
          <p:cNvSpPr txBox="1"/>
          <p:nvPr/>
        </p:nvSpPr>
        <p:spPr>
          <a:xfrm>
            <a:off x="731520" y="36118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ChefWise: una app que te ayuda a decidir qué cocinar con lo que tienes en casa.</a:t>
            </a:r>
            <a:endParaRPr lang="en-US" sz="2200" dirty="0"/>
          </a:p>
        </p:txBody>
      </p:sp>
      <p:sp>
        <p:nvSpPr>
          <p:cNvPr id="5" name="Nombre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 nombre]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NECESIDAD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Decidir qué cocinar cansa</a:t>
            </a:r>
            <a:endParaRPr lang="en-US" sz="3600" dirty="0"/>
          </a:p>
        </p:txBody>
      </p:sp>
      <p:sp>
        <p:nvSpPr>
          <p:cNvPr id="4" name="Tarjeta 1"/>
          <p:cNvSpPr/>
          <p:nvPr/>
        </p:nvSpPr>
        <p:spPr>
          <a:xfrm>
            <a:off x="731520" y="2286000"/>
            <a:ext cx="3383280" cy="3108960"/>
          </a:xfrm>
          <a:prstGeom prst="roundRect">
            <a:avLst>
              <a:gd name="adj" fmla="val 5294"/>
            </a:avLst>
          </a:prstGeom>
          <a:solidFill>
            <a:srgbClr val="FFFCF5"/>
          </a:solidFill>
          <a:ln w="12700">
            <a:solidFill>
              <a:srgbClr val="EAE4D6"/>
            </a:solidFill>
            <a:prstDash val="solid"/>
          </a:ln>
        </p:spPr>
      </p:sp>
      <p:sp>
        <p:nvSpPr>
          <p:cNvPr id="5" name="Ícono 1 círculo"/>
          <p:cNvSpPr/>
          <p:nvPr/>
        </p:nvSpPr>
        <p:spPr>
          <a:xfrm>
            <a:off x="1143000" y="2697480"/>
            <a:ext cx="731520" cy="731520"/>
          </a:xfrm>
          <a:prstGeom prst="ellipse">
            <a:avLst/>
          </a:prstGeom>
          <a:solidFill>
            <a:srgbClr val="EAE4D6"/>
          </a:solidFill>
          <a:ln/>
        </p:spPr>
      </p:sp>
      <p:pic>
        <p:nvPicPr>
          <p:cNvPr id="6" name="Ícono 1" descr="Ícon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10" y="2894990"/>
            <a:ext cx="336499" cy="336499"/>
          </a:xfrm>
          <a:prstGeom prst="rect">
            <a:avLst/>
          </a:prstGeom>
        </p:spPr>
      </p:pic>
      <p:sp>
        <p:nvSpPr>
          <p:cNvPr id="7" name="Frase 1"/>
          <p:cNvSpPr txBox="1"/>
          <p:nvPr/>
        </p:nvSpPr>
        <p:spPr>
          <a:xfrm>
            <a:off x="1143000" y="37033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“Tengo cosas en el refri, pero no sé qué hacer con ellas.”</a:t>
            </a:r>
            <a:endParaRPr lang="en-US" sz="2400" dirty="0"/>
          </a:p>
        </p:txBody>
      </p:sp>
      <p:sp>
        <p:nvSpPr>
          <p:cNvPr id="8" name="Tarjeta 2"/>
          <p:cNvSpPr/>
          <p:nvPr/>
        </p:nvSpPr>
        <p:spPr>
          <a:xfrm>
            <a:off x="4389120" y="2286000"/>
            <a:ext cx="3383280" cy="3108960"/>
          </a:xfrm>
          <a:prstGeom prst="roundRect">
            <a:avLst>
              <a:gd name="adj" fmla="val 5294"/>
            </a:avLst>
          </a:prstGeom>
          <a:solidFill>
            <a:srgbClr val="FFFCF5"/>
          </a:solidFill>
          <a:ln w="12700">
            <a:solidFill>
              <a:srgbClr val="EAE4D6"/>
            </a:solidFill>
            <a:prstDash val="solid"/>
          </a:ln>
        </p:spPr>
      </p:sp>
      <p:sp>
        <p:nvSpPr>
          <p:cNvPr id="9" name="Ícono 2 círculo"/>
          <p:cNvSpPr/>
          <p:nvPr/>
        </p:nvSpPr>
        <p:spPr>
          <a:xfrm>
            <a:off x="4800600" y="2697480"/>
            <a:ext cx="731520" cy="731520"/>
          </a:xfrm>
          <a:prstGeom prst="ellipse">
            <a:avLst/>
          </a:prstGeom>
          <a:solidFill>
            <a:srgbClr val="EAE4D6"/>
          </a:solidFill>
          <a:ln/>
        </p:spPr>
      </p:sp>
      <p:pic>
        <p:nvPicPr>
          <p:cNvPr id="10" name="Ícono 2" descr="Ícon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110" y="2894990"/>
            <a:ext cx="336499" cy="336499"/>
          </a:xfrm>
          <a:prstGeom prst="rect">
            <a:avLst/>
          </a:prstGeom>
        </p:spPr>
      </p:pic>
      <p:sp>
        <p:nvSpPr>
          <p:cNvPr id="11" name="Frase 2"/>
          <p:cNvSpPr txBox="1"/>
          <p:nvPr/>
        </p:nvSpPr>
        <p:spPr>
          <a:xfrm>
            <a:off x="4800600" y="37033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“Estoy cansada y no se me ocurre nada.”</a:t>
            </a:r>
            <a:endParaRPr lang="en-US" sz="2400" dirty="0"/>
          </a:p>
        </p:txBody>
      </p:sp>
      <p:sp>
        <p:nvSpPr>
          <p:cNvPr id="12" name="Tarjeta 3"/>
          <p:cNvSpPr/>
          <p:nvPr/>
        </p:nvSpPr>
        <p:spPr>
          <a:xfrm>
            <a:off x="8046720" y="2286000"/>
            <a:ext cx="3383280" cy="3108960"/>
          </a:xfrm>
          <a:prstGeom prst="roundRect">
            <a:avLst>
              <a:gd name="adj" fmla="val 5294"/>
            </a:avLst>
          </a:prstGeom>
          <a:solidFill>
            <a:srgbClr val="FFFCF5"/>
          </a:solidFill>
          <a:ln w="12700">
            <a:solidFill>
              <a:srgbClr val="EAE4D6"/>
            </a:solidFill>
            <a:prstDash val="solid"/>
          </a:ln>
        </p:spPr>
      </p:sp>
      <p:sp>
        <p:nvSpPr>
          <p:cNvPr id="13" name="Ícono 3 círculo"/>
          <p:cNvSpPr/>
          <p:nvPr/>
        </p:nvSpPr>
        <p:spPr>
          <a:xfrm>
            <a:off x="8458200" y="2697480"/>
            <a:ext cx="731520" cy="731520"/>
          </a:xfrm>
          <a:prstGeom prst="ellipse">
            <a:avLst/>
          </a:prstGeom>
          <a:solidFill>
            <a:srgbClr val="EAE4D6"/>
          </a:solidFill>
          <a:ln/>
        </p:spPr>
      </p:sp>
      <p:pic>
        <p:nvPicPr>
          <p:cNvPr id="14" name="Ícono 3" descr="Ícon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710" y="2894990"/>
            <a:ext cx="336499" cy="336499"/>
          </a:xfrm>
          <a:prstGeom prst="rect">
            <a:avLst/>
          </a:prstGeom>
        </p:spPr>
      </p:pic>
      <p:sp>
        <p:nvSpPr>
          <p:cNvPr id="15" name="Frase 3"/>
          <p:cNvSpPr txBox="1"/>
          <p:nvPr/>
        </p:nvSpPr>
        <p:spPr>
          <a:xfrm>
            <a:off x="8458200" y="37033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“¿Esta receta es segura para mis alergias?”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USAR UN CHAT?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no sabes qué cocinar, no sabes qué pedir</a:t>
            </a:r>
            <a:endParaRPr lang="en-US" sz="3600" dirty="0"/>
          </a:p>
        </p:txBody>
      </p:sp>
      <p:sp>
        <p:nvSpPr>
          <p:cNvPr id="4" name="Columna Un chat general"/>
          <p:cNvSpPr/>
          <p:nvPr/>
        </p:nvSpPr>
        <p:spPr>
          <a:xfrm>
            <a:off x="731520" y="2286000"/>
            <a:ext cx="5166360" cy="3108960"/>
          </a:xfrm>
          <a:prstGeom prst="roundRect">
            <a:avLst>
              <a:gd name="adj" fmla="val 5294"/>
            </a:avLst>
          </a:prstGeom>
          <a:solidFill>
            <a:srgbClr val="EAE4D6"/>
          </a:solidFill>
          <a:ln/>
        </p:spPr>
      </p:sp>
      <p:sp>
        <p:nvSpPr>
          <p:cNvPr id="5" name="Encabezado Un chat general"/>
          <p:cNvSpPr txBox="1"/>
          <p:nvPr/>
        </p:nvSpPr>
        <p:spPr>
          <a:xfrm>
            <a:off x="1188720" y="2697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 general</a:t>
            </a:r>
            <a:endParaRPr lang="en-US" sz="2600" dirty="0"/>
          </a:p>
        </p:txBody>
      </p:sp>
      <p:pic>
        <p:nvPicPr>
          <p:cNvPr id="6" name="Un chat general marca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529584"/>
            <a:ext cx="256032" cy="256032"/>
          </a:xfrm>
          <a:prstGeom prst="rect">
            <a:avLst/>
          </a:prstGeom>
        </p:spPr>
      </p:pic>
      <p:sp>
        <p:nvSpPr>
          <p:cNvPr id="7" name="Un chat general punto 1"/>
          <p:cNvSpPr txBox="1"/>
          <p:nvPr/>
        </p:nvSpPr>
        <p:spPr>
          <a:xfrm>
            <a:off x="164592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que saber qué escribir</a:t>
            </a:r>
            <a:endParaRPr lang="en-US" sz="2000" dirty="0"/>
          </a:p>
        </p:txBody>
      </p:sp>
      <p:pic>
        <p:nvPicPr>
          <p:cNvPr id="8" name="Un chat general marca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123944"/>
            <a:ext cx="256032" cy="256032"/>
          </a:xfrm>
          <a:prstGeom prst="rect">
            <a:avLst/>
          </a:prstGeom>
        </p:spPr>
      </p:pic>
      <p:sp>
        <p:nvSpPr>
          <p:cNvPr id="9" name="Un chat general punto 2"/>
          <p:cNvSpPr txBox="1"/>
          <p:nvPr/>
        </p:nvSpPr>
        <p:spPr>
          <a:xfrm>
            <a:off x="1645920" y="4069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 inventa recetas o tiempos</a:t>
            </a:r>
            <a:endParaRPr lang="en-US" sz="2000" dirty="0"/>
          </a:p>
        </p:txBody>
      </p:sp>
      <p:pic>
        <p:nvPicPr>
          <p:cNvPr id="10" name="Un chat general marca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18304"/>
            <a:ext cx="256032" cy="256032"/>
          </a:xfrm>
          <a:prstGeom prst="rect">
            <a:avLst/>
          </a:prstGeom>
        </p:spPr>
      </p:pic>
      <p:sp>
        <p:nvSpPr>
          <p:cNvPr id="11" name="Un chat general punto 3"/>
          <p:cNvSpPr txBox="1"/>
          <p:nvPr/>
        </p:nvSpPr>
        <p:spPr>
          <a:xfrm>
            <a:off x="1645920" y="4663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da demasiadas opciones</a:t>
            </a:r>
            <a:endParaRPr lang="en-US" sz="2000" dirty="0"/>
          </a:p>
        </p:txBody>
      </p:sp>
      <p:sp>
        <p:nvSpPr>
          <p:cNvPr id="12" name="Columna ChefWise"/>
          <p:cNvSpPr/>
          <p:nvPr/>
        </p:nvSpPr>
        <p:spPr>
          <a:xfrm>
            <a:off x="6263640" y="2286000"/>
            <a:ext cx="5166360" cy="3108960"/>
          </a:xfrm>
          <a:prstGeom prst="roundRect">
            <a:avLst>
              <a:gd name="adj" fmla="val 5294"/>
            </a:avLst>
          </a:prstGeom>
          <a:solidFill>
            <a:srgbClr val="1E2219"/>
          </a:solidFill>
          <a:ln/>
        </p:spPr>
      </p:sp>
      <p:sp>
        <p:nvSpPr>
          <p:cNvPr id="13" name="Encabezado ChefWise"/>
          <p:cNvSpPr txBox="1"/>
          <p:nvPr/>
        </p:nvSpPr>
        <p:spPr>
          <a:xfrm>
            <a:off x="6720840" y="2697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ChefWise</a:t>
            </a:r>
            <a:endParaRPr lang="en-US" sz="2600" dirty="0"/>
          </a:p>
        </p:txBody>
      </p:sp>
      <p:pic>
        <p:nvPicPr>
          <p:cNvPr id="14" name="ChefWise marca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529584"/>
            <a:ext cx="256032" cy="256032"/>
          </a:xfrm>
          <a:prstGeom prst="rect">
            <a:avLst/>
          </a:prstGeom>
        </p:spPr>
      </p:pic>
      <p:sp>
        <p:nvSpPr>
          <p:cNvPr id="15" name="ChefWise punto 1"/>
          <p:cNvSpPr txBox="1"/>
          <p:nvPr/>
        </p:nvSpPr>
        <p:spPr>
          <a:xfrm>
            <a:off x="717804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Eliges con botones, casi sin escribir</a:t>
            </a:r>
            <a:endParaRPr lang="en-US" sz="2000" dirty="0"/>
          </a:p>
        </p:txBody>
      </p:sp>
      <p:pic>
        <p:nvPicPr>
          <p:cNvPr id="16" name="ChefWise marca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4123944"/>
            <a:ext cx="256032" cy="256032"/>
          </a:xfrm>
          <a:prstGeom prst="rect">
            <a:avLst/>
          </a:prstGeom>
        </p:spPr>
      </p:pic>
      <p:sp>
        <p:nvSpPr>
          <p:cNvPr id="17" name="ChefWise punto 2"/>
          <p:cNvSpPr txBox="1"/>
          <p:nvPr/>
        </p:nvSpPr>
        <p:spPr>
          <a:xfrm>
            <a:off x="7178040" y="4069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recetas reales de un catálogo</a:t>
            </a:r>
            <a:endParaRPr lang="en-US" sz="2000" dirty="0"/>
          </a:p>
        </p:txBody>
      </p:sp>
      <p:pic>
        <p:nvPicPr>
          <p:cNvPr id="18" name="ChefWise marc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718304"/>
            <a:ext cx="256032" cy="256032"/>
          </a:xfrm>
          <a:prstGeom prst="rect">
            <a:avLst/>
          </a:prstGeom>
        </p:spPr>
      </p:pic>
      <p:sp>
        <p:nvSpPr>
          <p:cNvPr id="19" name="ChefWise punto 3"/>
          <p:cNvSpPr txBox="1"/>
          <p:nvPr/>
        </p:nvSpPr>
        <p:spPr>
          <a:xfrm>
            <a:off x="7178040" y="4663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solo habla de tu receta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partes, cada una con su tarea</a:t>
            </a:r>
            <a:endParaRPr lang="en-US" sz="3600" dirty="0"/>
          </a:p>
        </p:txBody>
      </p:sp>
      <p:sp>
        <p:nvSpPr>
          <p:cNvPr id="4" name="Paso 1"/>
          <p:cNvSpPr/>
          <p:nvPr/>
        </p:nvSpPr>
        <p:spPr>
          <a:xfrm>
            <a:off x="731520" y="2286000"/>
            <a:ext cx="3200400" cy="3108960"/>
          </a:xfrm>
          <a:prstGeom prst="roundRect">
            <a:avLst>
              <a:gd name="adj" fmla="val 5294"/>
            </a:avLst>
          </a:prstGeom>
          <a:solidFill>
            <a:srgbClr val="2A3023"/>
          </a:solidFill>
          <a:ln w="12700">
            <a:solidFill>
              <a:srgbClr val="4A5440"/>
            </a:solidFill>
            <a:prstDash val="solid"/>
          </a:ln>
        </p:spPr>
      </p:sp>
      <p:sp>
        <p:nvSpPr>
          <p:cNvPr id="5" name="Número 1"/>
          <p:cNvSpPr txBox="1"/>
          <p:nvPr/>
        </p:nvSpPr>
        <p:spPr>
          <a:xfrm>
            <a:off x="1143000" y="2697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ítulo paso 1"/>
          <p:cNvSpPr txBox="1"/>
          <p:nvPr/>
        </p:nvSpPr>
        <p:spPr>
          <a:xfrm>
            <a:off x="114300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</a:t>
            </a:r>
            <a:endParaRPr lang="en-US" sz="2200" dirty="0"/>
          </a:p>
        </p:txBody>
      </p:sp>
      <p:sp>
        <p:nvSpPr>
          <p:cNvPr id="7" name="Texto paso 1"/>
          <p:cNvSpPr txBox="1"/>
          <p:nvPr/>
        </p:nvSpPr>
        <p:spPr>
          <a:xfrm>
            <a:off x="1143000" y="4206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recetas según tus ingredientes, casi al instante.</a:t>
            </a:r>
            <a:endParaRPr lang="en-US" sz="1800" dirty="0"/>
          </a:p>
        </p:txBody>
      </p:sp>
      <p:sp>
        <p:nvSpPr>
          <p:cNvPr id="8" name="Flecha 1"/>
          <p:cNvSpPr/>
          <p:nvPr/>
        </p:nvSpPr>
        <p:spPr>
          <a:xfrm>
            <a:off x="4041648" y="3703320"/>
            <a:ext cx="329184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Paso 2"/>
          <p:cNvSpPr/>
          <p:nvPr/>
        </p:nvSpPr>
        <p:spPr>
          <a:xfrm>
            <a:off x="4480560" y="2286000"/>
            <a:ext cx="3200400" cy="3108960"/>
          </a:xfrm>
          <a:prstGeom prst="roundRect">
            <a:avLst>
              <a:gd name="adj" fmla="val 5294"/>
            </a:avLst>
          </a:prstGeom>
          <a:solidFill>
            <a:srgbClr val="2A3023"/>
          </a:solidFill>
          <a:ln w="12700">
            <a:solidFill>
              <a:srgbClr val="4A5440"/>
            </a:solidFill>
            <a:prstDash val="solid"/>
          </a:ln>
        </p:spPr>
      </p:sp>
      <p:sp>
        <p:nvSpPr>
          <p:cNvPr id="10" name="Número 2"/>
          <p:cNvSpPr txBox="1"/>
          <p:nvPr/>
        </p:nvSpPr>
        <p:spPr>
          <a:xfrm>
            <a:off x="4892040" y="2697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ítulo paso 2"/>
          <p:cNvSpPr txBox="1"/>
          <p:nvPr/>
        </p:nvSpPr>
        <p:spPr>
          <a:xfrm>
            <a:off x="489204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2200" dirty="0"/>
          </a:p>
        </p:txBody>
      </p:sp>
      <p:sp>
        <p:nvSpPr>
          <p:cNvPr id="12" name="Texto paso 2"/>
          <p:cNvSpPr txBox="1"/>
          <p:nvPr/>
        </p:nvSpPr>
        <p:spPr>
          <a:xfrm>
            <a:off x="4892040" y="4206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28,798 recetas reales, revisadas y limpias.</a:t>
            </a:r>
            <a:endParaRPr lang="en-US" sz="1800" dirty="0"/>
          </a:p>
        </p:txBody>
      </p:sp>
      <p:sp>
        <p:nvSpPr>
          <p:cNvPr id="13" name="Flecha 2"/>
          <p:cNvSpPr/>
          <p:nvPr/>
        </p:nvSpPr>
        <p:spPr>
          <a:xfrm>
            <a:off x="7790688" y="3703320"/>
            <a:ext cx="329184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4" name="Paso 3"/>
          <p:cNvSpPr/>
          <p:nvPr/>
        </p:nvSpPr>
        <p:spPr>
          <a:xfrm>
            <a:off x="8229600" y="2286000"/>
            <a:ext cx="3200400" cy="3108960"/>
          </a:xfrm>
          <a:prstGeom prst="roundRect">
            <a:avLst>
              <a:gd name="adj" fmla="val 5294"/>
            </a:avLst>
          </a:prstGeom>
          <a:solidFill>
            <a:srgbClr val="2A3023"/>
          </a:solidFill>
          <a:ln w="12700">
            <a:solidFill>
              <a:srgbClr val="4A5440"/>
            </a:solidFill>
            <a:prstDash val="solid"/>
          </a:ln>
        </p:spPr>
      </p:sp>
      <p:sp>
        <p:nvSpPr>
          <p:cNvPr id="15" name="Número 3"/>
          <p:cNvSpPr txBox="1"/>
          <p:nvPr/>
        </p:nvSpPr>
        <p:spPr>
          <a:xfrm>
            <a:off x="8641080" y="2697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ítulo paso 3"/>
          <p:cNvSpPr txBox="1"/>
          <p:nvPr/>
        </p:nvSpPr>
        <p:spPr>
          <a:xfrm>
            <a:off x="864108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</a:t>
            </a:r>
            <a:endParaRPr lang="en-US" sz="2200" dirty="0"/>
          </a:p>
        </p:txBody>
      </p:sp>
      <p:sp>
        <p:nvSpPr>
          <p:cNvPr id="17" name="Texto paso 3"/>
          <p:cNvSpPr txBox="1"/>
          <p:nvPr/>
        </p:nvSpPr>
        <p:spPr>
          <a:xfrm>
            <a:off x="8641080" y="4206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responde tus dudas, solo sobre la receta que estás viendo.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opción para cada situación</a:t>
            </a:r>
            <a:endParaRPr lang="en-US" sz="3600" dirty="0"/>
          </a:p>
        </p:txBody>
      </p:sp>
      <p:sp>
        <p:nvSpPr>
          <p:cNvPr id="4" name="Opción 1"/>
          <p:cNvSpPr/>
          <p:nvPr/>
        </p:nvSpPr>
        <p:spPr>
          <a:xfrm>
            <a:off x="731520" y="2286000"/>
            <a:ext cx="3383280" cy="3108960"/>
          </a:xfrm>
          <a:prstGeom prst="roundRect">
            <a:avLst>
              <a:gd name="adj" fmla="val 5294"/>
            </a:avLst>
          </a:prstGeom>
          <a:solidFill>
            <a:srgbClr val="FFFCF5"/>
          </a:solidFill>
          <a:ln w="12700">
            <a:solidFill>
              <a:srgbClr val="EAE4D6"/>
            </a:solidFill>
            <a:prstDash val="solid"/>
          </a:ln>
        </p:spPr>
      </p:sp>
      <p:sp>
        <p:nvSpPr>
          <p:cNvPr id="5" name="Situación 1"/>
          <p:cNvSpPr txBox="1"/>
          <p:nvPr/>
        </p:nvSpPr>
        <p:spPr>
          <a:xfrm>
            <a:off x="114300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“Tengo sobras”</a:t>
            </a:r>
            <a:endParaRPr lang="en-US" sz="1600" dirty="0"/>
          </a:p>
        </p:txBody>
      </p:sp>
      <p:sp>
        <p:nvSpPr>
          <p:cNvPr id="6" name="Opción nombre 1"/>
          <p:cNvSpPr txBox="1"/>
          <p:nvPr/>
        </p:nvSpPr>
        <p:spPr>
          <a:xfrm>
            <a:off x="114300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lo que tengo</a:t>
            </a:r>
            <a:endParaRPr lang="en-US" sz="2600" dirty="0"/>
          </a:p>
        </p:txBody>
      </p:sp>
      <p:sp>
        <p:nvSpPr>
          <p:cNvPr id="7" name="Opción texto 1"/>
          <p:cNvSpPr txBox="1"/>
          <p:nvPr/>
        </p:nvSpPr>
        <p:spPr>
          <a:xfrm>
            <a:off x="1143000" y="3977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tus ingredientes y te muestra recetas con pocos ingredientes extra.</a:t>
            </a:r>
            <a:endParaRPr lang="en-US" sz="1800" dirty="0"/>
          </a:p>
        </p:txBody>
      </p:sp>
      <p:sp>
        <p:nvSpPr>
          <p:cNvPr id="8" name="Opción 2"/>
          <p:cNvSpPr/>
          <p:nvPr/>
        </p:nvSpPr>
        <p:spPr>
          <a:xfrm>
            <a:off x="4389120" y="2286000"/>
            <a:ext cx="3383280" cy="3108960"/>
          </a:xfrm>
          <a:prstGeom prst="roundRect">
            <a:avLst>
              <a:gd name="adj" fmla="val 5294"/>
            </a:avLst>
          </a:prstGeom>
          <a:solidFill>
            <a:srgbClr val="FFFCF5"/>
          </a:solidFill>
          <a:ln w="12700">
            <a:solidFill>
              <a:srgbClr val="EAE4D6"/>
            </a:solidFill>
            <a:prstDash val="solid"/>
          </a:ln>
        </p:spPr>
      </p:sp>
      <p:sp>
        <p:nvSpPr>
          <p:cNvPr id="9" name="Situación 2"/>
          <p:cNvSpPr txBox="1"/>
          <p:nvPr/>
        </p:nvSpPr>
        <p:spPr>
          <a:xfrm>
            <a:off x="480060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sé qué quiero”</a:t>
            </a:r>
            <a:endParaRPr lang="en-US" sz="1600" dirty="0"/>
          </a:p>
        </p:txBody>
      </p:sp>
      <p:sp>
        <p:nvSpPr>
          <p:cNvPr id="10" name="Opción nombre 2"/>
          <p:cNvSpPr txBox="1"/>
          <p:nvPr/>
        </p:nvSpPr>
        <p:spPr>
          <a:xfrm>
            <a:off x="480060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Sorpréndeme</a:t>
            </a:r>
            <a:endParaRPr lang="en-US" sz="2600" dirty="0"/>
          </a:p>
        </p:txBody>
      </p:sp>
      <p:sp>
        <p:nvSpPr>
          <p:cNvPr id="11" name="Opción texto 2"/>
          <p:cNvSpPr txBox="1"/>
          <p:nvPr/>
        </p:nvSpPr>
        <p:spPr>
          <a:xfrm>
            <a:off x="4800600" y="3977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escribes nada: tocas el momento del día y el tipo de platillo.</a:t>
            </a:r>
            <a:endParaRPr lang="en-US" sz="1800" dirty="0"/>
          </a:p>
        </p:txBody>
      </p:sp>
      <p:sp>
        <p:nvSpPr>
          <p:cNvPr id="12" name="Opción 3"/>
          <p:cNvSpPr/>
          <p:nvPr/>
        </p:nvSpPr>
        <p:spPr>
          <a:xfrm>
            <a:off x="8046720" y="2286000"/>
            <a:ext cx="3383280" cy="3108960"/>
          </a:xfrm>
          <a:prstGeom prst="roundRect">
            <a:avLst>
              <a:gd name="adj" fmla="val 5294"/>
            </a:avLst>
          </a:prstGeom>
          <a:solidFill>
            <a:srgbClr val="FFFCF5"/>
          </a:solidFill>
          <a:ln w="12700">
            <a:solidFill>
              <a:srgbClr val="EAE4D6"/>
            </a:solidFill>
            <a:prstDash val="solid"/>
          </a:ln>
        </p:spPr>
      </p:sp>
      <p:sp>
        <p:nvSpPr>
          <p:cNvPr id="13" name="Situación 3"/>
          <p:cNvSpPr txBox="1"/>
          <p:nvPr/>
        </p:nvSpPr>
        <p:spPr>
          <a:xfrm>
            <a:off x="845820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“Tengo una duda”</a:t>
            </a:r>
            <a:endParaRPr lang="en-US" sz="1600" dirty="0"/>
          </a:p>
        </p:txBody>
      </p:sp>
      <p:sp>
        <p:nvSpPr>
          <p:cNvPr id="14" name="Opción nombre 3"/>
          <p:cNvSpPr txBox="1"/>
          <p:nvPr/>
        </p:nvSpPr>
        <p:spPr>
          <a:xfrm>
            <a:off x="845820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Asistente</a:t>
            </a:r>
            <a:endParaRPr lang="en-US" sz="2600" dirty="0"/>
          </a:p>
        </p:txBody>
      </p:sp>
      <p:sp>
        <p:nvSpPr>
          <p:cNvPr id="15" name="Opción texto 3"/>
          <p:cNvSpPr txBox="1"/>
          <p:nvPr/>
        </p:nvSpPr>
        <p:spPr>
          <a:xfrm>
            <a:off x="8458200" y="3977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cocinas, te sugiere sustitutos y te resuelve dudas de la receta.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USAR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Útil desde el primer momento</a:t>
            </a:r>
            <a:endParaRPr lang="en-US" sz="3600" dirty="0"/>
          </a:p>
        </p:txBody>
      </p:sp>
      <p:sp>
        <p:nvSpPr>
          <p:cNvPr id="4" name="Punto 1"/>
          <p:cNvSpPr/>
          <p:nvPr/>
        </p:nvSpPr>
        <p:spPr>
          <a:xfrm>
            <a:off x="731520" y="2286000"/>
            <a:ext cx="5212080" cy="1600200"/>
          </a:xfrm>
          <a:prstGeom prst="roundRect">
            <a:avLst>
              <a:gd name="adj" fmla="val 10286"/>
            </a:avLst>
          </a:prstGeom>
          <a:solidFill>
            <a:srgbClr val="FFFCF5"/>
          </a:solidFill>
          <a:ln w="12700">
            <a:solidFill>
              <a:srgbClr val="EAE4D6"/>
            </a:solidFill>
            <a:prstDash val="solid"/>
          </a:ln>
        </p:spPr>
      </p:sp>
      <p:sp>
        <p:nvSpPr>
          <p:cNvPr id="5" name="Ícono punto 1 círculo"/>
          <p:cNvSpPr/>
          <p:nvPr/>
        </p:nvSpPr>
        <p:spPr>
          <a:xfrm>
            <a:off x="1051560" y="2651760"/>
            <a:ext cx="731520" cy="731520"/>
          </a:xfrm>
          <a:prstGeom prst="ellipse">
            <a:avLst/>
          </a:prstGeom>
          <a:solidFill>
            <a:srgbClr val="EAE4D6"/>
          </a:solidFill>
          <a:ln/>
        </p:spPr>
      </p:sp>
      <p:pic>
        <p:nvPicPr>
          <p:cNvPr id="6" name="Ícono punto 1" descr="Ícono punt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070" y="2849270"/>
            <a:ext cx="336499" cy="336499"/>
          </a:xfrm>
          <a:prstGeom prst="rect">
            <a:avLst/>
          </a:prstGeom>
        </p:spPr>
      </p:pic>
      <p:sp>
        <p:nvSpPr>
          <p:cNvPr id="7" name="Título punto 1"/>
          <p:cNvSpPr txBox="1"/>
          <p:nvPr/>
        </p:nvSpPr>
        <p:spPr>
          <a:xfrm>
            <a:off x="205740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</a:t>
            </a:r>
            <a:endParaRPr lang="en-US" sz="2000" dirty="0"/>
          </a:p>
        </p:txBody>
      </p:sp>
      <p:sp>
        <p:nvSpPr>
          <p:cNvPr id="8" name="Texto punto 1"/>
          <p:cNvSpPr txBox="1"/>
          <p:nvPr/>
        </p:nvSpPr>
        <p:spPr>
          <a:xfrm>
            <a:off x="2057400" y="3063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favoritas, historial y alergias se guardan en tu dispositivo.</a:t>
            </a:r>
            <a:endParaRPr lang="en-US" sz="1700" dirty="0"/>
          </a:p>
        </p:txBody>
      </p:sp>
      <p:sp>
        <p:nvSpPr>
          <p:cNvPr id="9" name="Punto 2"/>
          <p:cNvSpPr/>
          <p:nvPr/>
        </p:nvSpPr>
        <p:spPr>
          <a:xfrm>
            <a:off x="6217920" y="2286000"/>
            <a:ext cx="5212080" cy="1600200"/>
          </a:xfrm>
          <a:prstGeom prst="roundRect">
            <a:avLst>
              <a:gd name="adj" fmla="val 10286"/>
            </a:avLst>
          </a:prstGeom>
          <a:solidFill>
            <a:srgbClr val="FFFCF5"/>
          </a:solidFill>
          <a:ln w="12700">
            <a:solidFill>
              <a:srgbClr val="EAE4D6"/>
            </a:solidFill>
            <a:prstDash val="solid"/>
          </a:ln>
        </p:spPr>
      </p:sp>
      <p:sp>
        <p:nvSpPr>
          <p:cNvPr id="10" name="Ícono punto 2 círculo"/>
          <p:cNvSpPr/>
          <p:nvPr/>
        </p:nvSpPr>
        <p:spPr>
          <a:xfrm>
            <a:off x="6537960" y="2651760"/>
            <a:ext cx="731520" cy="731520"/>
          </a:xfrm>
          <a:prstGeom prst="ellipse">
            <a:avLst/>
          </a:prstGeom>
          <a:solidFill>
            <a:srgbClr val="EAE4D6"/>
          </a:solidFill>
          <a:ln/>
        </p:spPr>
      </p:sp>
      <p:pic>
        <p:nvPicPr>
          <p:cNvPr id="11" name="Ícono punto 2" descr="Ícono punt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470" y="2849270"/>
            <a:ext cx="336499" cy="336499"/>
          </a:xfrm>
          <a:prstGeom prst="rect">
            <a:avLst/>
          </a:prstGeom>
        </p:spPr>
      </p:pic>
      <p:sp>
        <p:nvSpPr>
          <p:cNvPr id="12" name="Título punto 2"/>
          <p:cNvSpPr txBox="1"/>
          <p:nvPr/>
        </p:nvSpPr>
        <p:spPr>
          <a:xfrm>
            <a:off x="754380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Alergias con un toque</a:t>
            </a:r>
            <a:endParaRPr lang="en-US" sz="2000" dirty="0"/>
          </a:p>
        </p:txBody>
      </p:sp>
      <p:sp>
        <p:nvSpPr>
          <p:cNvPr id="13" name="Texto punto 2"/>
          <p:cNvSpPr txBox="1"/>
          <p:nvPr/>
        </p:nvSpPr>
        <p:spPr>
          <a:xfrm>
            <a:off x="7543800" y="3063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marcas una vez y esas recetas ya no te aparecen.</a:t>
            </a:r>
            <a:endParaRPr lang="en-US" sz="1700" dirty="0"/>
          </a:p>
        </p:txBody>
      </p:sp>
      <p:sp>
        <p:nvSpPr>
          <p:cNvPr id="14" name="Punto 3"/>
          <p:cNvSpPr/>
          <p:nvPr/>
        </p:nvSpPr>
        <p:spPr>
          <a:xfrm>
            <a:off x="731520" y="4160520"/>
            <a:ext cx="5212080" cy="1600200"/>
          </a:xfrm>
          <a:prstGeom prst="roundRect">
            <a:avLst>
              <a:gd name="adj" fmla="val 10286"/>
            </a:avLst>
          </a:prstGeom>
          <a:solidFill>
            <a:srgbClr val="FFFCF5"/>
          </a:solidFill>
          <a:ln w="12700">
            <a:solidFill>
              <a:srgbClr val="EAE4D6"/>
            </a:solidFill>
            <a:prstDash val="solid"/>
          </a:ln>
        </p:spPr>
      </p:sp>
      <p:sp>
        <p:nvSpPr>
          <p:cNvPr id="15" name="Ícono punto 3 círculo"/>
          <p:cNvSpPr/>
          <p:nvPr/>
        </p:nvSpPr>
        <p:spPr>
          <a:xfrm>
            <a:off x="1051560" y="4526280"/>
            <a:ext cx="731520" cy="731520"/>
          </a:xfrm>
          <a:prstGeom prst="ellipse">
            <a:avLst/>
          </a:prstGeom>
          <a:solidFill>
            <a:srgbClr val="EAE4D6"/>
          </a:solidFill>
          <a:ln/>
        </p:spPr>
      </p:sp>
      <p:pic>
        <p:nvPicPr>
          <p:cNvPr id="16" name="Ícono punto 3" descr="Ícono punt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070" y="4723790"/>
            <a:ext cx="336499" cy="336499"/>
          </a:xfrm>
          <a:prstGeom prst="rect">
            <a:avLst/>
          </a:prstGeom>
        </p:spPr>
      </p:pic>
      <p:sp>
        <p:nvSpPr>
          <p:cNvPr id="17" name="Título punto 3"/>
          <p:cNvSpPr txBox="1"/>
          <p:nvPr/>
        </p:nvSpPr>
        <p:spPr>
          <a:xfrm>
            <a:off x="205740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rápidas</a:t>
            </a:r>
            <a:endParaRPr lang="en-US" sz="2000" dirty="0"/>
          </a:p>
        </p:txBody>
      </p:sp>
      <p:sp>
        <p:nvSpPr>
          <p:cNvPr id="18" name="Texto punto 3"/>
          <p:cNvSpPr txBox="1"/>
          <p:nvPr/>
        </p:nvSpPr>
        <p:spPr>
          <a:xfrm>
            <a:off x="2057400" y="4937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Cambié un modelo de 488 MB por uno de 6.2 MB.</a:t>
            </a:r>
            <a:endParaRPr lang="en-US" sz="1700" dirty="0"/>
          </a:p>
        </p:txBody>
      </p:sp>
      <p:sp>
        <p:nvSpPr>
          <p:cNvPr id="19" name="Punto 4"/>
          <p:cNvSpPr/>
          <p:nvPr/>
        </p:nvSpPr>
        <p:spPr>
          <a:xfrm>
            <a:off x="6217920" y="4160520"/>
            <a:ext cx="5212080" cy="1600200"/>
          </a:xfrm>
          <a:prstGeom prst="roundRect">
            <a:avLst>
              <a:gd name="adj" fmla="val 10286"/>
            </a:avLst>
          </a:prstGeom>
          <a:solidFill>
            <a:srgbClr val="FFFCF5"/>
          </a:solidFill>
          <a:ln w="12700">
            <a:solidFill>
              <a:srgbClr val="EAE4D6"/>
            </a:solidFill>
            <a:prstDash val="solid"/>
          </a:ln>
        </p:spPr>
      </p:sp>
      <p:sp>
        <p:nvSpPr>
          <p:cNvPr id="20" name="Ícono punto 4 círculo"/>
          <p:cNvSpPr/>
          <p:nvPr/>
        </p:nvSpPr>
        <p:spPr>
          <a:xfrm>
            <a:off x="6537960" y="4526280"/>
            <a:ext cx="731520" cy="731520"/>
          </a:xfrm>
          <a:prstGeom prst="ellipse">
            <a:avLst/>
          </a:prstGeom>
          <a:solidFill>
            <a:srgbClr val="EAE4D6"/>
          </a:solidFill>
          <a:ln/>
        </p:spPr>
      </p:sp>
      <p:pic>
        <p:nvPicPr>
          <p:cNvPr id="21" name="Ícono punto 4" descr="Ícono punto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470" y="4723790"/>
            <a:ext cx="336499" cy="336499"/>
          </a:xfrm>
          <a:prstGeom prst="rect">
            <a:avLst/>
          </a:prstGeom>
        </p:spPr>
      </p:pic>
      <p:sp>
        <p:nvSpPr>
          <p:cNvPr id="22" name="Título punto 4"/>
          <p:cNvSpPr txBox="1"/>
          <p:nvPr/>
        </p:nvSpPr>
        <p:spPr>
          <a:xfrm>
            <a:off x="754380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 la salud</a:t>
            </a:r>
            <a:endParaRPr lang="en-US" sz="2000" dirty="0"/>
          </a:p>
        </p:txBody>
      </p:sp>
      <p:sp>
        <p:nvSpPr>
          <p:cNvPr id="23" name="Texto punto 4"/>
          <p:cNvSpPr txBox="1"/>
          <p:nvPr/>
        </p:nvSpPr>
        <p:spPr>
          <a:xfrm>
            <a:off x="7543800" y="4937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Temperaturas seguras, y nunca dice que algo es 100% seguro.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quiero mejorarla</a:t>
            </a:r>
            <a:endParaRPr lang="en-US" sz="3600" dirty="0"/>
          </a:p>
        </p:txBody>
      </p:sp>
      <p:sp>
        <p:nvSpPr>
          <p:cNvPr id="4" name="Mejora 1"/>
          <p:cNvSpPr/>
          <p:nvPr/>
        </p:nvSpPr>
        <p:spPr>
          <a:xfrm>
            <a:off x="731520" y="2286000"/>
            <a:ext cx="5212080" cy="3291840"/>
          </a:xfrm>
          <a:prstGeom prst="roundRect">
            <a:avLst>
              <a:gd name="adj" fmla="val 5000"/>
            </a:avLst>
          </a:prstGeom>
          <a:solidFill>
            <a:srgbClr val="FFFCF5"/>
          </a:solidFill>
          <a:ln w="12700">
            <a:solidFill>
              <a:srgbClr val="EAE4D6"/>
            </a:solidFill>
            <a:prstDash val="solid"/>
          </a:ln>
        </p:spPr>
      </p:sp>
      <p:sp>
        <p:nvSpPr>
          <p:cNvPr id="5" name="Ícono mejora 1 círculo"/>
          <p:cNvSpPr/>
          <p:nvPr/>
        </p:nvSpPr>
        <p:spPr>
          <a:xfrm>
            <a:off x="1188720" y="2743200"/>
            <a:ext cx="822960" cy="822960"/>
          </a:xfrm>
          <a:prstGeom prst="ellipse">
            <a:avLst/>
          </a:prstGeom>
          <a:solidFill>
            <a:srgbClr val="EAE4D6"/>
          </a:solidFill>
          <a:ln/>
        </p:spPr>
      </p:sp>
      <p:pic>
        <p:nvPicPr>
          <p:cNvPr id="6" name="Ícono mejora 1" descr="Ícono mejor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0919" y="2965399"/>
            <a:ext cx="378562" cy="378562"/>
          </a:xfrm>
          <a:prstGeom prst="rect">
            <a:avLst/>
          </a:prstGeom>
        </p:spPr>
      </p:pic>
      <p:sp>
        <p:nvSpPr>
          <p:cNvPr id="7" name="Título mejora 1"/>
          <p:cNvSpPr txBox="1"/>
          <p:nvPr/>
        </p:nvSpPr>
        <p:spPr>
          <a:xfrm>
            <a:off x="1188720" y="38404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más personalizadas</a:t>
            </a:r>
            <a:endParaRPr lang="en-US" sz="2600" dirty="0"/>
          </a:p>
        </p:txBody>
      </p:sp>
      <p:sp>
        <p:nvSpPr>
          <p:cNvPr id="8" name="Texto mejora 1"/>
          <p:cNvSpPr txBox="1"/>
          <p:nvPr/>
        </p:nvSpPr>
        <p:spPr>
          <a:xfrm>
            <a:off x="1188720" y="48006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aprenda de lo que a cada persona le gusta y le sugiera recetas más a su medida.</a:t>
            </a:r>
            <a:endParaRPr lang="en-US" sz="1800" dirty="0"/>
          </a:p>
        </p:txBody>
      </p:sp>
      <p:sp>
        <p:nvSpPr>
          <p:cNvPr id="9" name="Mejora 2"/>
          <p:cNvSpPr/>
          <p:nvPr/>
        </p:nvSpPr>
        <p:spPr>
          <a:xfrm>
            <a:off x="6217920" y="2286000"/>
            <a:ext cx="5212080" cy="3291840"/>
          </a:xfrm>
          <a:prstGeom prst="roundRect">
            <a:avLst>
              <a:gd name="adj" fmla="val 5000"/>
            </a:avLst>
          </a:prstGeom>
          <a:solidFill>
            <a:srgbClr val="FFFCF5"/>
          </a:solidFill>
          <a:ln w="12700">
            <a:solidFill>
              <a:srgbClr val="EAE4D6"/>
            </a:solidFill>
            <a:prstDash val="solid"/>
          </a:ln>
        </p:spPr>
      </p:sp>
      <p:sp>
        <p:nvSpPr>
          <p:cNvPr id="10" name="Ícono mejora 2 círculo"/>
          <p:cNvSpPr/>
          <p:nvPr/>
        </p:nvSpPr>
        <p:spPr>
          <a:xfrm>
            <a:off x="6675120" y="2743200"/>
            <a:ext cx="822960" cy="822960"/>
          </a:xfrm>
          <a:prstGeom prst="ellipse">
            <a:avLst/>
          </a:prstGeom>
          <a:solidFill>
            <a:srgbClr val="EAE4D6"/>
          </a:solidFill>
          <a:ln/>
        </p:spPr>
      </p:sp>
      <p:pic>
        <p:nvPicPr>
          <p:cNvPr id="11" name="Ícono mejora 2" descr="Ícono mejor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319" y="2965399"/>
            <a:ext cx="378562" cy="378562"/>
          </a:xfrm>
          <a:prstGeom prst="rect">
            <a:avLst/>
          </a:prstGeom>
        </p:spPr>
      </p:pic>
      <p:sp>
        <p:nvSpPr>
          <p:cNvPr id="12" name="Título mejora 2"/>
          <p:cNvSpPr txBox="1"/>
          <p:nvPr/>
        </p:nvSpPr>
        <p:spPr>
          <a:xfrm>
            <a:off x="6675120" y="38404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interfaz mejorada con tu opinión</a:t>
            </a:r>
            <a:endParaRPr lang="en-US" sz="2600" dirty="0"/>
          </a:p>
        </p:txBody>
      </p:sp>
      <p:sp>
        <p:nvSpPr>
          <p:cNvPr id="13" name="Texto mejora 2"/>
          <p:cNvSpPr txBox="1"/>
          <p:nvPr/>
        </p:nvSpPr>
        <p:spPr>
          <a:xfrm>
            <a:off x="6675120" y="48006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a quienes la usan y ajustar lo que les resulte confuso o difícil.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Ícono demo círculo"/>
          <p:cNvSpPr/>
          <p:nvPr/>
        </p:nvSpPr>
        <p:spPr>
          <a:xfrm>
            <a:off x="731520" y="1463040"/>
            <a:ext cx="1005840" cy="1005840"/>
          </a:xfrm>
          <a:prstGeom prst="ellipse">
            <a:avLst/>
          </a:prstGeom>
          <a:solidFill>
            <a:srgbClr val="F5F0E6"/>
          </a:solidFill>
          <a:ln/>
        </p:spPr>
      </p:sp>
      <p:pic>
        <p:nvPicPr>
          <p:cNvPr id="3" name="Ícono demo" descr="Ícono de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097" y="1734617"/>
            <a:ext cx="462686" cy="46268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Ahora, la app en acción</a:t>
            </a:r>
            <a:endParaRPr lang="en-US" sz="5400" dirty="0"/>
          </a:p>
        </p:txBody>
      </p:sp>
      <p:sp>
        <p:nvSpPr>
          <p:cNvPr id="5" name="Enlace"/>
          <p:cNvSpPr txBox="1"/>
          <p:nvPr/>
        </p:nvSpPr>
        <p:spPr>
          <a:xfrm>
            <a:off x="73152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8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chef-wise-three.vercel.app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6600" dirty="0"/>
          </a:p>
        </p:txBody>
      </p:sp>
      <p:sp>
        <p:nvSpPr>
          <p:cNvPr id="3" name="Enlace"/>
          <p:cNvSpPr txBox="1"/>
          <p:nvPr/>
        </p:nvSpPr>
        <p:spPr>
          <a:xfrm>
            <a:off x="73152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Pruébala en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chef-wise-three.vercel.app</a:t>
            </a:r>
            <a:endParaRPr lang="en-US" sz="2200" dirty="0"/>
          </a:p>
        </p:txBody>
      </p:sp>
      <p:sp>
        <p:nvSpPr>
          <p:cNvPr id="4" name="Nombre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 nombre] · Proyecto final del diplomado</a:t>
            </a:r>
            <a:endParaRPr lang="en-US" sz="1600" dirty="0"/>
          </a:p>
        </p:txBody>
      </p:sp>
      <p:sp>
        <p:nvSpPr>
          <p:cNvPr id="6" name="Text 0"/>
          <p:cNvSpPr/>
          <p:nvPr>
            <p:ph idx="100" type="body" hasCustomPrompt="1"/>
          </p:nvPr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efWise">
  <a:themeElements>
    <a:clrScheme name="ChefWise">
      <a:dk1>
        <a:srgbClr val="23281E"/>
      </a:dk1>
      <a:lt1>
        <a:srgbClr val="FFFCF5"/>
      </a:lt1>
      <a:dk2>
        <a:srgbClr val="1E2219"/>
      </a:dk2>
      <a:lt2>
        <a:srgbClr val="F5F0E6"/>
      </a:lt2>
      <a:accent1>
        <a:srgbClr val="4F6B2E"/>
      </a:accent1>
      <a:accent2>
        <a:srgbClr val="D9A93B"/>
      </a:accent2>
      <a:accent3>
        <a:srgbClr val="4D5244"/>
      </a:accent3>
      <a:accent4>
        <a:srgbClr val="D8D3C4"/>
      </a:accent4>
      <a:accent5>
        <a:srgbClr val="EAE4D6"/>
      </a:accent5>
      <a:accent6>
        <a:srgbClr val="2A3023"/>
      </a:accent6>
      <a:hlink>
        <a:srgbClr val="4F6B2E"/>
      </a:hlink>
      <a:folHlink>
        <a:srgbClr val="4D5244"/>
      </a:folHlink>
    </a:clrScheme>
    <a:fontScheme name="ChefWi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ChefWise – Proyecto final del diplomado</dc:title>
  <dc:subject>PptxGenJS Presentation</dc:subject>
  <dc:creator>[Tu nombre]</dc:creator>
  <cp:lastModifiedBy>[Tu nombre]</cp:lastModifiedBy>
  <cp:revision>1</cp:revision>
  <dcterms:created xsi:type="dcterms:W3CDTF">2026-10-05T05:02:13Z</dcterms:created>
  <dcterms:modified xsi:type="dcterms:W3CDTF">2026-10-05T05:02:13Z</dcterms:modified>
</cp:coreProperties>
</file>